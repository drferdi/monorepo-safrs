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0936" y="594360"/>
            <a:ext cx="68580" cy="420624"/>
          </a:xfrm>
          <a:prstGeom prst="rect">
            <a:avLst/>
          </a:prstGeom>
          <a:solidFill>
            <a:srgbClr val="21B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640080"/>
            <a:ext cx="100584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400" b="1">
                <a:solidFill>
                  <a:srgbClr val="ADB9BD"/>
                </a:solidFill>
                <a:latin typeface="Inter"/>
              </a:defRPr>
            </a:pPr>
            <a:r>
              <a:t>SENTRA HEALTHCARE AI</a:t>
            </a:r>
          </a:p>
        </p:txBody>
      </p:sp>
      <p:pic>
        <p:nvPicPr>
          <p:cNvPr id="4" name="Picture 3" descr="Sentraverse_Locku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932688"/>
            <a:ext cx="4800600" cy="36143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8096" y="5102352"/>
            <a:ext cx="9144000" cy="6217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3100" b="1">
                <a:solidFill>
                  <a:srgbClr val="F7F8F8"/>
                </a:solidFill>
                <a:latin typeface="Inter"/>
              </a:defRPr>
            </a:pPr>
            <a:r>
              <a:t>One connected vision.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961888"/>
            <a:ext cx="8229600" cy="2926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300" b="0">
                <a:solidFill>
                  <a:srgbClr val="ADB9BD"/>
                </a:solidFill>
                <a:latin typeface="Inter"/>
              </a:defRPr>
            </a:pPr>
            <a:r>
              <a:t>An editable corporate identity presentation /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6072" y="457200"/>
            <a:ext cx="68580" cy="411480"/>
          </a:xfrm>
          <a:prstGeom prst="rect">
            <a:avLst/>
          </a:prstGeom>
          <a:solidFill>
            <a:srgbClr val="21B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38912"/>
            <a:ext cx="100584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200" b="1">
                <a:solidFill>
                  <a:srgbClr val="086F66"/>
                </a:solidFill>
                <a:latin typeface="Inter"/>
              </a:defRPr>
            </a:pPr>
            <a:r>
              <a:t>01 /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24128"/>
            <a:ext cx="11064240" cy="6858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3600" b="1">
                <a:solidFill>
                  <a:srgbClr val="151515"/>
                </a:solidFill>
                <a:latin typeface="Inter"/>
              </a:defRPr>
            </a:pPr>
            <a:r>
              <a:t>A connected healthcare gateway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6455664"/>
            <a:ext cx="10899648" cy="13716"/>
          </a:xfrm>
          <a:prstGeom prst="rect">
            <a:avLst/>
          </a:prstGeom>
          <a:solidFill>
            <a:srgbClr val="DCE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900" b="0">
                <a:solidFill>
                  <a:srgbClr val="52616B"/>
                </a:solidFill>
                <a:latin typeface="Inter"/>
              </a:defRPr>
            </a:pPr>
            <a:r>
              <a:t>SENTRAVERSE  /  2026  /  PROPOSED BRAND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6492240" cy="1463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700" b="1">
                <a:solidFill>
                  <a:srgbClr val="151515"/>
                </a:solidFill>
                <a:latin typeface="Inter"/>
              </a:defRPr>
            </a:pPr>
            <a:r>
              <a:t>Sentraverse makes Sentra Healthcare AI understandable and discoverable.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69080"/>
            <a:ext cx="768096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700" b="0">
                <a:solidFill>
                  <a:srgbClr val="52616B"/>
                </a:solidFill>
                <a:latin typeface="Inter"/>
              </a:defRPr>
            </a:pPr>
            <a:r>
              <a:t>Public marketing  /  brand narrative  /  product navigation</a:t>
            </a:r>
          </a:p>
        </p:txBody>
      </p:sp>
      <p:pic>
        <p:nvPicPr>
          <p:cNvPr id="9" name="Picture 8" descr="Sentraverse_Neuron_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7848" y="1984248"/>
            <a:ext cx="3291840" cy="25657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6072" y="457200"/>
            <a:ext cx="68580" cy="411480"/>
          </a:xfrm>
          <a:prstGeom prst="rect">
            <a:avLst/>
          </a:prstGeom>
          <a:solidFill>
            <a:srgbClr val="21B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38912"/>
            <a:ext cx="100584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200" b="1">
                <a:solidFill>
                  <a:srgbClr val="21BFAE"/>
                </a:solidFill>
                <a:latin typeface="Inter"/>
              </a:defRPr>
            </a:pPr>
            <a:r>
              <a:t>02 /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24128"/>
            <a:ext cx="11064240" cy="6858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3600" b="1">
                <a:solidFill>
                  <a:srgbClr val="F7F8F8"/>
                </a:solidFill>
                <a:latin typeface="Inter"/>
              </a:defRPr>
            </a:pPr>
            <a:r>
              <a:t>One organization, distinct products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6455664"/>
            <a:ext cx="10899648" cy="13716"/>
          </a:xfrm>
          <a:prstGeom prst="rect">
            <a:avLst/>
          </a:prstGeom>
          <a:solidFill>
            <a:srgbClr val="526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900" b="0">
                <a:solidFill>
                  <a:srgbClr val="ADB9BD"/>
                </a:solidFill>
                <a:latin typeface="Inter"/>
              </a:defRPr>
            </a:pPr>
            <a:r>
              <a:t>SENTRAVERSE  /  2026  /  PROPOSED BRAND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" y="2286000"/>
            <a:ext cx="2167128" cy="1901952"/>
          </a:xfrm>
          <a:prstGeom prst="rect">
            <a:avLst/>
          </a:prstGeom>
          <a:solidFill>
            <a:srgbClr val="1B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1947672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800" b="1">
                <a:solidFill>
                  <a:srgbClr val="F7F8F8"/>
                </a:solidFill>
                <a:latin typeface="Inter"/>
              </a:defRPr>
            </a:pPr>
            <a:r>
              <a:t>MEDBOARD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1920240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200" b="0">
                <a:solidFill>
                  <a:srgbClr val="ADB9BD"/>
                </a:solidFill>
                <a:latin typeface="Inter"/>
              </a:defRPr>
            </a:pPr>
            <a:r>
              <a:t>Clinical cockpit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71800" y="2286000"/>
            <a:ext cx="2167128" cy="1901952"/>
          </a:xfrm>
          <a:prstGeom prst="rect">
            <a:avLst/>
          </a:prstGeom>
          <a:solidFill>
            <a:srgbClr val="1B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99816" y="2743200"/>
            <a:ext cx="1947672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800" b="1">
                <a:solidFill>
                  <a:srgbClr val="F7F8F8"/>
                </a:solidFill>
                <a:latin typeface="Inter"/>
              </a:defRPr>
            </a:pPr>
            <a:r>
              <a:t>ASSISTVERSE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9816" y="3337560"/>
            <a:ext cx="1920240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200" b="0">
                <a:solidFill>
                  <a:srgbClr val="ADB9BD"/>
                </a:solidFill>
                <a:latin typeface="Inter"/>
              </a:defRPr>
            </a:pPr>
            <a:r>
              <a:t>Asisten Medis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94376" y="2286000"/>
            <a:ext cx="2167128" cy="1901952"/>
          </a:xfrm>
          <a:prstGeom prst="rect">
            <a:avLst/>
          </a:prstGeom>
          <a:solidFill>
            <a:srgbClr val="1B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22392" y="2743200"/>
            <a:ext cx="1947672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800" b="1">
                <a:solidFill>
                  <a:srgbClr val="F7F8F8"/>
                </a:solidFill>
                <a:latin typeface="Inter"/>
              </a:defRPr>
            </a:pPr>
            <a:r>
              <a:t>AVERY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2392" y="3337560"/>
            <a:ext cx="1920240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200" b="0">
                <a:solidFill>
                  <a:srgbClr val="ADB9BD"/>
                </a:solidFill>
                <a:latin typeface="Inter"/>
              </a:defRPr>
            </a:pPr>
            <a:r>
              <a:t>Hermes agent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16952" y="2286000"/>
            <a:ext cx="2167128" cy="1901952"/>
          </a:xfrm>
          <a:prstGeom prst="rect">
            <a:avLst/>
          </a:prstGeom>
          <a:solidFill>
            <a:srgbClr val="1B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2743200"/>
            <a:ext cx="1947672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800" b="1">
                <a:solidFill>
                  <a:srgbClr val="F7F8F8"/>
                </a:solidFill>
                <a:latin typeface="Inter"/>
              </a:defRPr>
            </a:pPr>
            <a:r>
              <a:t>SIDELAB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3337560"/>
            <a:ext cx="1920240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200" b="0">
                <a:solidFill>
                  <a:srgbClr val="ADB9BD"/>
                </a:solidFill>
                <a:latin typeface="Inter"/>
              </a:defRPr>
            </a:pPr>
            <a:r>
              <a:t>Research engine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39528" y="2286000"/>
            <a:ext cx="2167128" cy="1901952"/>
          </a:xfrm>
          <a:prstGeom prst="rect">
            <a:avLst/>
          </a:prstGeom>
          <a:solidFill>
            <a:srgbClr val="1B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67544" y="2743200"/>
            <a:ext cx="1947672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800" b="1">
                <a:solidFill>
                  <a:srgbClr val="F7F8F8"/>
                </a:solidFill>
                <a:latin typeface="Inter"/>
              </a:defRPr>
            </a:pPr>
            <a:r>
              <a:t>MANTRA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67544" y="3337560"/>
            <a:ext cx="1920240" cy="5303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200" b="0">
                <a:solidFill>
                  <a:srgbClr val="ADB9BD"/>
                </a:solidFill>
                <a:latin typeface="Inter"/>
              </a:defRPr>
            </a:pPr>
            <a:r>
              <a:t>Hospital ERP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937760"/>
            <a:ext cx="1042416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900" b="0">
                <a:solidFill>
                  <a:srgbClr val="F7F8F8"/>
                </a:solidFill>
                <a:latin typeface="Inter"/>
              </a:defRPr>
            </a:pPr>
            <a:r>
              <a:t>The public gateway provides navigation; product-level responsibilities remain distinct.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6072" y="457200"/>
            <a:ext cx="68580" cy="411480"/>
          </a:xfrm>
          <a:prstGeom prst="rect">
            <a:avLst/>
          </a:prstGeom>
          <a:solidFill>
            <a:srgbClr val="21B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38912"/>
            <a:ext cx="100584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200" b="1">
                <a:solidFill>
                  <a:srgbClr val="086F66"/>
                </a:solidFill>
                <a:latin typeface="Inter"/>
              </a:defRPr>
            </a:pPr>
            <a:r>
              <a:t>03 / VISUAL IDENTITY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24128"/>
            <a:ext cx="11064240" cy="6858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3600" b="1">
                <a:solidFill>
                  <a:srgbClr val="151515"/>
                </a:solidFill>
                <a:latin typeface="Inter"/>
              </a:defRPr>
            </a:pPr>
            <a:r>
              <a:t>The neuron remains the master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6455664"/>
            <a:ext cx="10899648" cy="13716"/>
          </a:xfrm>
          <a:prstGeom prst="rect">
            <a:avLst/>
          </a:prstGeom>
          <a:solidFill>
            <a:srgbClr val="DCE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900" b="0">
                <a:solidFill>
                  <a:srgbClr val="52616B"/>
                </a:solidFill>
                <a:latin typeface="Inter"/>
              </a:defRPr>
            </a:pPr>
            <a:r>
              <a:t>SENTRAVERSE  /  2026  /  PROPOSED BRAND SYSTEM</a:t>
            </a:r>
          </a:p>
        </p:txBody>
      </p:sp>
      <p:pic>
        <p:nvPicPr>
          <p:cNvPr id="7" name="Picture 6" descr="Sentraverse_Lockup_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1938528"/>
            <a:ext cx="4892040" cy="368322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0" y="2240280"/>
            <a:ext cx="393192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900" b="1">
                <a:solidFill>
                  <a:srgbClr val="151515"/>
                </a:solidFill>
                <a:latin typeface="Inter"/>
              </a:defRPr>
            </a:pPr>
            <a:r>
              <a:t>Three source-derived applications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999232"/>
            <a:ext cx="4343400" cy="4114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500" b="0">
                <a:solidFill>
                  <a:srgbClr val="52616B"/>
                </a:solidFill>
                <a:latin typeface="Inter"/>
              </a:defRPr>
            </a:pPr>
            <a:r>
              <a:t>01  /  Original transparent master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3611879"/>
            <a:ext cx="4343400" cy="4114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500" b="0">
                <a:solidFill>
                  <a:srgbClr val="52616B"/>
                </a:solidFill>
                <a:latin typeface="Inter"/>
              </a:defRPr>
            </a:pPr>
            <a:r>
              <a:t>02  /  Reversed light/dark lockups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4224528"/>
            <a:ext cx="4343400" cy="4114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500" b="0">
                <a:solidFill>
                  <a:srgbClr val="52616B"/>
                </a:solidFill>
                <a:latin typeface="Inter"/>
              </a:defRPr>
            </a:pPr>
            <a:r>
              <a:t>03  /  Traced SVG silhouette (approx.)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6072" y="457200"/>
            <a:ext cx="68580" cy="411480"/>
          </a:xfrm>
          <a:prstGeom prst="rect">
            <a:avLst/>
          </a:prstGeom>
          <a:solidFill>
            <a:srgbClr val="21B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38912"/>
            <a:ext cx="100584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200" b="1">
                <a:solidFill>
                  <a:srgbClr val="21BFAE"/>
                </a:solidFill>
                <a:latin typeface="Inter"/>
              </a:defRPr>
            </a:pPr>
            <a:r>
              <a:t>04 /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24128"/>
            <a:ext cx="11064240" cy="6858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3600" b="1">
                <a:solidFill>
                  <a:srgbClr val="F7F8F8"/>
                </a:solidFill>
                <a:latin typeface="Inter"/>
              </a:defRPr>
            </a:pPr>
            <a:r>
              <a:t>Quiet neutrals. Focused signal.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6455664"/>
            <a:ext cx="10899648" cy="13716"/>
          </a:xfrm>
          <a:prstGeom prst="rect">
            <a:avLst/>
          </a:prstGeom>
          <a:solidFill>
            <a:srgbClr val="526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900" b="0">
                <a:solidFill>
                  <a:srgbClr val="ADB9BD"/>
                </a:solidFill>
                <a:latin typeface="Inter"/>
              </a:defRPr>
            </a:pPr>
            <a:r>
              <a:t>SENTRAVERSE  /  2026  /  PROPOSED BRAND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331720"/>
            <a:ext cx="2167128" cy="2103120"/>
          </a:xfrm>
          <a:prstGeom prst="rect">
            <a:avLst/>
          </a:prstGeom>
          <a:solidFill>
            <a:srgbClr val="0B0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590288"/>
            <a:ext cx="219456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300" b="1">
                <a:solidFill>
                  <a:srgbClr val="F7F8F8"/>
                </a:solidFill>
                <a:latin typeface="Inter"/>
              </a:defRPr>
            </a:pPr>
            <a:r>
              <a:t>VOID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992624"/>
            <a:ext cx="210312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200" b="0">
                <a:solidFill>
                  <a:srgbClr val="ADB9BD"/>
                </a:solidFill>
                <a:latin typeface="Inter"/>
              </a:defRPr>
            </a:pPr>
            <a:r>
              <a:t>#0B0D10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53511" y="2331720"/>
            <a:ext cx="2167128" cy="210312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53511" y="4590288"/>
            <a:ext cx="219456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300" b="1">
                <a:solidFill>
                  <a:srgbClr val="F7F8F8"/>
                </a:solidFill>
                <a:latin typeface="Inter"/>
              </a:defRPr>
            </a:pPr>
            <a:r>
              <a:t>GRAPHITE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3511" y="4992624"/>
            <a:ext cx="210312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200" b="0">
                <a:solidFill>
                  <a:srgbClr val="ADB9BD"/>
                </a:solidFill>
                <a:latin typeface="Inter"/>
              </a:defRPr>
            </a:pPr>
            <a:r>
              <a:t>#151515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66944" y="2331720"/>
            <a:ext cx="2167128" cy="2103120"/>
          </a:xfrm>
          <a:prstGeom prst="rect">
            <a:avLst/>
          </a:prstGeom>
          <a:solidFill>
            <a:srgbClr val="F7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66944" y="4590288"/>
            <a:ext cx="219456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300" b="1">
                <a:solidFill>
                  <a:srgbClr val="F7F8F8"/>
                </a:solidFill>
                <a:latin typeface="Inter"/>
              </a:defRPr>
            </a:pPr>
            <a:r>
              <a:t>PAPER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66944" y="4992624"/>
            <a:ext cx="210312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200" b="0">
                <a:solidFill>
                  <a:srgbClr val="ADB9BD"/>
                </a:solidFill>
                <a:latin typeface="Inter"/>
              </a:defRPr>
            </a:pPr>
            <a:r>
              <a:t>#F7F8F8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0375" y="2331720"/>
            <a:ext cx="2167128" cy="2103120"/>
          </a:xfrm>
          <a:prstGeom prst="rect">
            <a:avLst/>
          </a:prstGeom>
          <a:solidFill>
            <a:srgbClr val="21B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0375" y="4590288"/>
            <a:ext cx="219456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300" b="1">
                <a:solidFill>
                  <a:srgbClr val="F7F8F8"/>
                </a:solidFill>
                <a:latin typeface="Inter"/>
              </a:defRPr>
            </a:pPr>
            <a:r>
              <a:t>SIGNAL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0375" y="4992624"/>
            <a:ext cx="210312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200" b="0">
                <a:solidFill>
                  <a:srgbClr val="ADB9BD"/>
                </a:solidFill>
                <a:latin typeface="Inter"/>
              </a:defRPr>
            </a:pPr>
            <a:r>
              <a:t>#21BFAE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93807" y="2331720"/>
            <a:ext cx="2167128" cy="2103120"/>
          </a:xfrm>
          <a:prstGeom prst="rect">
            <a:avLst/>
          </a:prstGeom>
          <a:solidFill>
            <a:srgbClr val="086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93807" y="4590288"/>
            <a:ext cx="219456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300" b="1">
                <a:solidFill>
                  <a:srgbClr val="F7F8F8"/>
                </a:solidFill>
                <a:latin typeface="Inter"/>
              </a:defRPr>
            </a:pPr>
            <a:r>
              <a:t>DEEP SIGNAL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93807" y="4992624"/>
            <a:ext cx="210312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200" b="0">
                <a:solidFill>
                  <a:srgbClr val="ADB9BD"/>
                </a:solidFill>
                <a:latin typeface="Inter"/>
              </a:defRPr>
            </a:pPr>
            <a:r>
              <a:t>#086F66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6072" y="457200"/>
            <a:ext cx="68580" cy="411480"/>
          </a:xfrm>
          <a:prstGeom prst="rect">
            <a:avLst/>
          </a:prstGeom>
          <a:solidFill>
            <a:srgbClr val="21B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38912"/>
            <a:ext cx="100584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200" b="1">
                <a:solidFill>
                  <a:srgbClr val="086F66"/>
                </a:solidFill>
                <a:latin typeface="Inter"/>
              </a:defRPr>
            </a:pPr>
            <a:r>
              <a:t>05 / TYPOGRAPHY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24128"/>
            <a:ext cx="11064240" cy="6858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3600" b="1">
                <a:solidFill>
                  <a:srgbClr val="151515"/>
                </a:solidFill>
                <a:latin typeface="Inter"/>
              </a:defRPr>
            </a:pPr>
            <a:r>
              <a:t>Clarity is a product feature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6455664"/>
            <a:ext cx="10899648" cy="13716"/>
          </a:xfrm>
          <a:prstGeom prst="rect">
            <a:avLst/>
          </a:prstGeom>
          <a:solidFill>
            <a:srgbClr val="DCE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900" b="0">
                <a:solidFill>
                  <a:srgbClr val="52616B"/>
                </a:solidFill>
                <a:latin typeface="Inter"/>
              </a:defRPr>
            </a:pPr>
            <a:r>
              <a:t>SENTRAVERSE  /  2026  /  PROPOSED BRAND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01952"/>
            <a:ext cx="6858000" cy="10972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6600" b="1">
                <a:solidFill>
                  <a:srgbClr val="151515"/>
                </a:solidFill>
                <a:latin typeface="Inter"/>
              </a:defRPr>
            </a:pPr>
            <a:r>
              <a:t>Inter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55264"/>
            <a:ext cx="8229600" cy="7315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500" b="0">
                <a:solidFill>
                  <a:srgbClr val="52616B"/>
                </a:solidFill>
                <a:latin typeface="Inter"/>
              </a:defRPr>
            </a:pPr>
            <a:r>
              <a:t>Make important ideas easy to understand.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914400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900" b="1">
                <a:solidFill>
                  <a:srgbClr val="086F66"/>
                </a:solidFill>
                <a:latin typeface="Inter"/>
              </a:defRPr>
            </a:pPr>
            <a:r>
              <a:t>Display  /  Headline  /  Body  /  Label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6072" y="457200"/>
            <a:ext cx="68580" cy="411480"/>
          </a:xfrm>
          <a:prstGeom prst="rect">
            <a:avLst/>
          </a:prstGeom>
          <a:solidFill>
            <a:srgbClr val="21B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38912"/>
            <a:ext cx="100584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200" b="1">
                <a:solidFill>
                  <a:srgbClr val="21BFAE"/>
                </a:solidFill>
                <a:latin typeface="Inter"/>
              </a:defRPr>
            </a:pPr>
            <a:r>
              <a:t>06 / 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24128"/>
            <a:ext cx="11064240" cy="6858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3600" b="1">
                <a:solidFill>
                  <a:srgbClr val="F7F8F8"/>
                </a:solidFill>
                <a:latin typeface="Inter"/>
              </a:defRPr>
            </a:pPr>
            <a:r>
              <a:t>Confident, precise, human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6455664"/>
            <a:ext cx="10899648" cy="13716"/>
          </a:xfrm>
          <a:prstGeom prst="rect">
            <a:avLst/>
          </a:prstGeom>
          <a:solidFill>
            <a:srgbClr val="526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900" b="0">
                <a:solidFill>
                  <a:srgbClr val="ADB9BD"/>
                </a:solidFill>
                <a:latin typeface="Inter"/>
              </a:defRPr>
            </a:pPr>
            <a:r>
              <a:t>SENTRAVERSE  /  2026  /  PROPOSED BRAND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057400"/>
            <a:ext cx="64008" cy="530352"/>
          </a:xfrm>
          <a:prstGeom prst="rect">
            <a:avLst/>
          </a:prstGeom>
          <a:solidFill>
            <a:srgbClr val="21B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057400"/>
            <a:ext cx="3749039" cy="4754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900" b="1">
                <a:solidFill>
                  <a:srgbClr val="F7F8F8"/>
                </a:solidFill>
                <a:latin typeface="Inter"/>
              </a:defRPr>
            </a:pPr>
            <a:r>
              <a:t>Confident, not absolute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057400"/>
            <a:ext cx="6812280" cy="6766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400" b="0">
                <a:solidFill>
                  <a:srgbClr val="ADB9BD"/>
                </a:solidFill>
                <a:latin typeface="Inter"/>
              </a:defRPr>
            </a:pPr>
            <a:r>
              <a:t>Write specific capabilities and verified outcomes; avoid claims of guaranteed accuracy or patient benefit.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953512"/>
            <a:ext cx="64008" cy="530352"/>
          </a:xfrm>
          <a:prstGeom prst="rect">
            <a:avLst/>
          </a:prstGeom>
          <a:solidFill>
            <a:srgbClr val="21B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953512"/>
            <a:ext cx="3749039" cy="4754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900" b="1">
                <a:solidFill>
                  <a:srgbClr val="F7F8F8"/>
                </a:solidFill>
                <a:latin typeface="Inter"/>
              </a:defRPr>
            </a:pPr>
            <a:r>
              <a:t>Human, not robotic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953512"/>
            <a:ext cx="6812280" cy="6766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400" b="0">
                <a:solidFill>
                  <a:srgbClr val="ADB9BD"/>
                </a:solidFill>
                <a:latin typeface="Inter"/>
              </a:defRPr>
            </a:pPr>
            <a:r>
              <a:t>Lead with clinician and patient needs; use technology as the enabling subject.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3849624"/>
            <a:ext cx="64008" cy="530352"/>
          </a:xfrm>
          <a:prstGeom prst="rect">
            <a:avLst/>
          </a:prstGeom>
          <a:solidFill>
            <a:srgbClr val="21B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849624"/>
            <a:ext cx="3749039" cy="4754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900" b="1">
                <a:solidFill>
                  <a:srgbClr val="F7F8F8"/>
                </a:solidFill>
                <a:latin typeface="Inter"/>
              </a:defRPr>
            </a:pPr>
            <a:r>
              <a:t>Precise, not dense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849624"/>
            <a:ext cx="6812280" cy="6766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400" b="0">
                <a:solidFill>
                  <a:srgbClr val="ADB9BD"/>
                </a:solidFill>
                <a:latin typeface="Inter"/>
              </a:defRPr>
            </a:pPr>
            <a:r>
              <a:t>Replace inflated AI terminology with short explanations and concrete examples.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4745736"/>
            <a:ext cx="64008" cy="530352"/>
          </a:xfrm>
          <a:prstGeom prst="rect">
            <a:avLst/>
          </a:prstGeom>
          <a:solidFill>
            <a:srgbClr val="21B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745736"/>
            <a:ext cx="3749039" cy="4754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900" b="1">
                <a:solidFill>
                  <a:srgbClr val="F7F8F8"/>
                </a:solidFill>
                <a:latin typeface="Inter"/>
              </a:defRPr>
            </a:pPr>
            <a:r>
              <a:t>Local, not insular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745736"/>
            <a:ext cx="6812280" cy="67665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400" b="0">
                <a:solidFill>
                  <a:srgbClr val="ADB9BD"/>
                </a:solidFill>
                <a:latin typeface="Inter"/>
              </a:defRPr>
            </a:pPr>
            <a:r>
              <a:t>Use Indonesian healthcare context authentically while remaining accessible to international audiences.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6072" y="457200"/>
            <a:ext cx="68580" cy="411480"/>
          </a:xfrm>
          <a:prstGeom prst="rect">
            <a:avLst/>
          </a:prstGeom>
          <a:solidFill>
            <a:srgbClr val="21B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38912"/>
            <a:ext cx="100584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200" b="1">
                <a:solidFill>
                  <a:srgbClr val="086F66"/>
                </a:solidFill>
                <a:latin typeface="Inter"/>
              </a:defRPr>
            </a:pPr>
            <a:r>
              <a:t>07 / BILINGUAL MESSAGING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24128"/>
            <a:ext cx="11064240" cy="6858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3600" b="1">
                <a:solidFill>
                  <a:srgbClr val="151515"/>
                </a:solidFill>
                <a:latin typeface="Inter"/>
              </a:defRPr>
            </a:pPr>
            <a:r>
              <a:t>Satu visi. One connected vision.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6455664"/>
            <a:ext cx="10899648" cy="13716"/>
          </a:xfrm>
          <a:prstGeom prst="rect">
            <a:avLst/>
          </a:prstGeom>
          <a:solidFill>
            <a:srgbClr val="DCE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900" b="0">
                <a:solidFill>
                  <a:srgbClr val="52616B"/>
                </a:solidFill>
                <a:latin typeface="Inter"/>
              </a:defRPr>
            </a:pPr>
            <a:r>
              <a:t>SENTRAVERSE  /  2026  /  PROPOSED BRAND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2157984"/>
            <a:ext cx="10698480" cy="9144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700" b="1">
                <a:solidFill>
                  <a:srgbClr val="151515"/>
                </a:solidFill>
                <a:latin typeface="Inter"/>
              </a:defRPr>
            </a:pPr>
            <a:r>
              <a:t>Satu visi, layanan kesehatan yang lebih terhubung.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3547872"/>
            <a:ext cx="1033272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500" b="0">
                <a:solidFill>
                  <a:srgbClr val="52616B"/>
                </a:solidFill>
                <a:latin typeface="Inter"/>
              </a:defRPr>
            </a:pPr>
            <a:r>
              <a:t>One connected vision for healthcare.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" y="4599432"/>
            <a:ext cx="8001000" cy="32004"/>
          </a:xfrm>
          <a:prstGeom prst="rect">
            <a:avLst/>
          </a:prstGeom>
          <a:solidFill>
            <a:srgbClr val="21B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4983480"/>
            <a:ext cx="10058400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600" b="0">
                <a:solidFill>
                  <a:srgbClr val="52616B"/>
                </a:solidFill>
                <a:latin typeface="Inter"/>
              </a:defRPr>
            </a:pPr>
            <a:r>
              <a:t>Supporting line: Healthcare intelligence, built for Indonesia.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6072" y="457200"/>
            <a:ext cx="68580" cy="411480"/>
          </a:xfrm>
          <a:prstGeom prst="rect">
            <a:avLst/>
          </a:prstGeom>
          <a:solidFill>
            <a:srgbClr val="21B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38912"/>
            <a:ext cx="100584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200" b="1">
                <a:solidFill>
                  <a:srgbClr val="21BFAE"/>
                </a:solidFill>
                <a:latin typeface="Inter"/>
              </a:defRPr>
            </a:pPr>
            <a:r>
              <a:t>08 / RESPONSIBLE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24128"/>
            <a:ext cx="11064240" cy="6858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3600" b="1">
                <a:solidFill>
                  <a:srgbClr val="F7F8F8"/>
                </a:solidFill>
                <a:latin typeface="Inter"/>
              </a:defRPr>
            </a:pPr>
            <a:r>
              <a:t>Every external claim must be verifiable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6455664"/>
            <a:ext cx="10899648" cy="13716"/>
          </a:xfrm>
          <a:prstGeom prst="rect">
            <a:avLst/>
          </a:prstGeom>
          <a:solidFill>
            <a:srgbClr val="526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900" b="0">
                <a:solidFill>
                  <a:srgbClr val="ADB9BD"/>
                </a:solidFill>
                <a:latin typeface="Inter"/>
              </a:defRPr>
            </a:pPr>
            <a:r>
              <a:t>SENTRAVERSE  /  2026  /  PROPOSED BRAND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2377440"/>
            <a:ext cx="3611880" cy="2304288"/>
          </a:xfrm>
          <a:prstGeom prst="rect">
            <a:avLst/>
          </a:prstGeom>
          <a:solidFill>
            <a:srgbClr val="1A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697480"/>
            <a:ext cx="3273552" cy="5029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700" b="1">
                <a:solidFill>
                  <a:srgbClr val="21BFAE"/>
                </a:solidFill>
                <a:latin typeface="Inter"/>
              </a:defRPr>
            </a:pPr>
            <a:r>
              <a:t>PRODUCT TRUTH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346704"/>
            <a:ext cx="3255264" cy="10789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600" b="0">
                <a:solidFill>
                  <a:srgbClr val="F7F8F8"/>
                </a:solidFill>
                <a:latin typeface="Inter"/>
              </a:defRPr>
            </a:pPr>
            <a:r>
              <a:t>Check releases and descriptions with each product owner.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44568" y="2377440"/>
            <a:ext cx="3611880" cy="2304288"/>
          </a:xfrm>
          <a:prstGeom prst="rect">
            <a:avLst/>
          </a:prstGeom>
          <a:solidFill>
            <a:srgbClr val="1A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8304" y="2697480"/>
            <a:ext cx="3273552" cy="5029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700" b="1">
                <a:solidFill>
                  <a:srgbClr val="21BFAE"/>
                </a:solidFill>
                <a:latin typeface="Inter"/>
              </a:defRPr>
            </a:pPr>
            <a:r>
              <a:t>CLINICAL CLAIMS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8304" y="3346704"/>
            <a:ext cx="3255264" cy="10789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600" b="0">
                <a:solidFill>
                  <a:srgbClr val="F7F8F8"/>
                </a:solidFill>
                <a:latin typeface="Inter"/>
              </a:defRPr>
            </a:pPr>
            <a:r>
              <a:t>Do not invent accuracy, certification or patient outcomes.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85048" y="2377440"/>
            <a:ext cx="3611880" cy="2304288"/>
          </a:xfrm>
          <a:prstGeom prst="rect">
            <a:avLst/>
          </a:prstGeom>
          <a:solidFill>
            <a:srgbClr val="1A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58784" y="2697480"/>
            <a:ext cx="3273552" cy="5029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700" b="1">
                <a:solidFill>
                  <a:srgbClr val="21BFAE"/>
                </a:solidFill>
                <a:latin typeface="Inter"/>
              </a:defRPr>
            </a:pPr>
            <a:r>
              <a:t>USER TRUST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58784" y="3346704"/>
            <a:ext cx="3255264" cy="10789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600" b="0">
                <a:solidFill>
                  <a:srgbClr val="F7F8F8"/>
                </a:solidFill>
                <a:latin typeface="Inter"/>
              </a:defRPr>
            </a:pPr>
            <a:r>
              <a:t>Protect patient data and avoid misleading illustrations.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6072" y="457200"/>
            <a:ext cx="68580" cy="411480"/>
          </a:xfrm>
          <a:prstGeom prst="rect">
            <a:avLst/>
          </a:prstGeom>
          <a:solidFill>
            <a:srgbClr val="21B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38912"/>
            <a:ext cx="100584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200" b="1">
                <a:solidFill>
                  <a:srgbClr val="086F66"/>
                </a:solidFill>
                <a:latin typeface="Inter"/>
              </a:defRPr>
            </a:pPr>
            <a:r>
              <a:t>09 / RELEASE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24128"/>
            <a:ext cx="11064240" cy="6858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3600" b="1">
                <a:solidFill>
                  <a:srgbClr val="151515"/>
                </a:solidFill>
                <a:latin typeface="Inter"/>
              </a:defRPr>
            </a:pPr>
            <a:r>
              <a:t>Approve. Apply. Verify.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6455664"/>
            <a:ext cx="10899648" cy="13716"/>
          </a:xfrm>
          <a:prstGeom prst="rect">
            <a:avLst/>
          </a:prstGeom>
          <a:solidFill>
            <a:srgbClr val="DCE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900" b="0">
                <a:solidFill>
                  <a:srgbClr val="52616B"/>
                </a:solidFill>
                <a:latin typeface="Inter"/>
              </a:defRPr>
            </a:pPr>
            <a:r>
              <a:t>SENTRAVERSE  /  2026  /  PROPOSED BRAND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1938528"/>
            <a:ext cx="1005840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500" b="1">
                <a:solidFill>
                  <a:srgbClr val="151515"/>
                </a:solidFill>
                <a:latin typeface="Inter"/>
              </a:defRPr>
            </a:pPr>
            <a:r>
              <a:t>01 / Approve the visual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862072"/>
            <a:ext cx="10058400" cy="6400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500" b="1">
                <a:solidFill>
                  <a:srgbClr val="151515"/>
                </a:solidFill>
                <a:latin typeface="Inter"/>
              </a:defRPr>
            </a:pPr>
            <a:r>
              <a:t>02 / Review product claims, accessibility and imagery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3785615"/>
            <a:ext cx="1005840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400" b="1">
                <a:solidFill>
                  <a:srgbClr val="151515"/>
                </a:solidFill>
                <a:latin typeface="Inter"/>
              </a:defRPr>
            </a:pPr>
            <a:r>
              <a:t>03 / Protect the gateway routes while integrating tokens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148072"/>
            <a:ext cx="9144000" cy="5029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700" b="0">
                <a:solidFill>
                  <a:srgbClr val="086F66"/>
                </a:solidFill>
                <a:latin typeface="Inter"/>
              </a:defRPr>
            </a:pPr>
            <a:r>
              <a:t>sentrahai.com   •   dr. Ferdi Iskandar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